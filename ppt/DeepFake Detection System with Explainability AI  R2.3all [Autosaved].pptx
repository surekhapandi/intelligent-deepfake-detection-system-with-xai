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7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74" r:id="rId15"/>
    <p:sldId id="273" r:id="rId16"/>
    <p:sldId id="275" r:id="rId17"/>
    <p:sldId id="276" r:id="rId18"/>
    <p:sldId id="277" r:id="rId19"/>
    <p:sldId id="279" r:id="rId20"/>
    <p:sldId id="282" r:id="rId21"/>
    <p:sldId id="280" r:id="rId22"/>
    <p:sldId id="283" r:id="rId23"/>
    <p:sldId id="284" r:id="rId24"/>
    <p:sldId id="285" r:id="rId25"/>
    <p:sldId id="288" r:id="rId26"/>
    <p:sldId id="289" r:id="rId27"/>
    <p:sldId id="281" r:id="rId28"/>
    <p:sldId id="286" r:id="rId29"/>
    <p:sldId id="287" r:id="rId30"/>
    <p:sldId id="268" r:id="rId31"/>
    <p:sldId id="270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EA24594-F917-4598-B8B9-E87080C6ACEC}">
          <p14:sldIdLst>
            <p14:sldId id="256"/>
            <p14:sldId id="257"/>
            <p14:sldId id="278"/>
            <p14:sldId id="259"/>
            <p14:sldId id="260"/>
            <p14:sldId id="261"/>
            <p14:sldId id="262"/>
            <p14:sldId id="263"/>
            <p14:sldId id="264"/>
            <p14:sldId id="265"/>
            <p14:sldId id="271"/>
            <p14:sldId id="266"/>
            <p14:sldId id="267"/>
            <p14:sldId id="274"/>
            <p14:sldId id="273"/>
            <p14:sldId id="275"/>
            <p14:sldId id="276"/>
            <p14:sldId id="277"/>
            <p14:sldId id="279"/>
            <p14:sldId id="282"/>
            <p14:sldId id="280"/>
            <p14:sldId id="283"/>
            <p14:sldId id="284"/>
            <p14:sldId id="285"/>
            <p14:sldId id="288"/>
            <p14:sldId id="289"/>
            <p14:sldId id="281"/>
            <p14:sldId id="286"/>
            <p14:sldId id="287"/>
            <p14:sldId id="268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50498A-0349-4D2B-AFEC-F3D9DD1A1CA7}">
  <a:tblStyle styleId="{A450498A-0349-4D2B-AFEC-F3D9DD1A1C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>
        <p:guide orient="horz" pos="21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1637a1ca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bb1637a1c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1637a1ca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bb1637a1c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b1637a1ca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bb1637a1c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b1637a1c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bb1637a1c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219" y="1064713"/>
            <a:ext cx="1540701" cy="175365"/>
          </a:xfrm>
          <a:prstGeom prst="rect">
            <a:avLst/>
          </a:prstGeom>
          <a:solidFill>
            <a:srgbClr val="FF9C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683708" y="1064713"/>
            <a:ext cx="10513512" cy="175365"/>
          </a:xfrm>
          <a:prstGeom prst="rect">
            <a:avLst/>
          </a:prstGeom>
          <a:solidFill>
            <a:srgbClr val="FF3B0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2968668" y="676405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7543800" y="114156"/>
            <a:ext cx="64482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</a:t>
            </a:r>
            <a:endParaRPr dirty="0"/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rcRect/>
          <a:stretch/>
        </p:blipFill>
        <p:spPr>
          <a:xfrm>
            <a:off x="340678" y="114156"/>
            <a:ext cx="869782" cy="86978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148304" y="6425853"/>
            <a:ext cx="907502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cap="none" dirty="0">
                <a:solidFill>
                  <a:srgbClr val="FBE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Human Face Deepfake Detection System with Explainable AI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18492" y="5486292"/>
            <a:ext cx="1725602" cy="989684"/>
          </a:xfrm>
          <a:custGeom>
            <a:avLst/>
            <a:gdLst/>
            <a:ahLst/>
            <a:cxnLst/>
            <a:rect l="l" t="t" r="r" b="b"/>
            <a:pathLst>
              <a:path w="1727200" h="990600" extrusionOk="0">
                <a:moveTo>
                  <a:pt x="1726692" y="0"/>
                </a:moveTo>
                <a:lnTo>
                  <a:pt x="0" y="0"/>
                </a:lnTo>
                <a:lnTo>
                  <a:pt x="0" y="990587"/>
                </a:lnTo>
                <a:lnTo>
                  <a:pt x="1726692" y="990587"/>
                </a:lnTo>
                <a:lnTo>
                  <a:pt x="1726692" y="0"/>
                </a:lnTo>
                <a:close/>
              </a:path>
            </a:pathLst>
          </a:custGeom>
          <a:solidFill>
            <a:srgbClr val="FF6A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832748" y="5491944"/>
            <a:ext cx="10352344" cy="989684"/>
          </a:xfrm>
          <a:custGeom>
            <a:avLst/>
            <a:gdLst/>
            <a:ahLst/>
            <a:cxnLst/>
            <a:rect l="l" t="t" r="r" b="b"/>
            <a:pathLst>
              <a:path w="10361930" h="990600" extrusionOk="0">
                <a:moveTo>
                  <a:pt x="10361676" y="0"/>
                </a:moveTo>
                <a:lnTo>
                  <a:pt x="0" y="0"/>
                </a:lnTo>
                <a:lnTo>
                  <a:pt x="0" y="990587"/>
                </a:lnTo>
                <a:lnTo>
                  <a:pt x="10361676" y="990587"/>
                </a:lnTo>
                <a:lnTo>
                  <a:pt x="10361676" y="0"/>
                </a:lnTo>
                <a:close/>
              </a:path>
            </a:pathLst>
          </a:custGeom>
          <a:solidFill>
            <a:srgbClr val="FF3B0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729354" y="5486292"/>
            <a:ext cx="10462646" cy="610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250" rIns="0" bIns="0" anchor="t" anchorCtr="0">
            <a:spAutoFit/>
          </a:bodyPr>
          <a:lstStyle/>
          <a:p>
            <a:pPr lvl="0" algn="ctr"/>
            <a:r>
              <a:rPr lang="en-IN" sz="2800" dirty="0"/>
              <a:t>Adikavi </a:t>
            </a:r>
            <a:r>
              <a:rPr lang="en-IN" sz="2800" dirty="0" err="1"/>
              <a:t>Nannaya</a:t>
            </a:r>
            <a:r>
              <a:rPr lang="en-IN" sz="2800" dirty="0"/>
              <a:t> University MSN Campus, Kakinada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639" y="0"/>
            <a:ext cx="1549831" cy="154983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-139959" y="133442"/>
            <a:ext cx="12221656" cy="119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250" rIns="0" bIns="0" anchor="t" anchorCtr="0">
            <a:spAutoFit/>
          </a:bodyPr>
          <a:lstStyle/>
          <a:p>
            <a:pPr marL="254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Intelligent Human Face Deepfake Detection System with Explainable A</a:t>
            </a:r>
            <a:r>
              <a:rPr lang="en-US" sz="3400" b="1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050" b="1" dirty="0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814086" y="3726815"/>
            <a:ext cx="8319633" cy="78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250" rIns="0" bIns="0" anchor="t" anchorCtr="0">
            <a:noAutofit/>
          </a:bodyPr>
          <a:lstStyle/>
          <a:p>
            <a:pPr marL="254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</a:t>
            </a:r>
            <a:endParaRPr dirty="0"/>
          </a:p>
        </p:txBody>
      </p:sp>
      <p:graphicFrame>
        <p:nvGraphicFramePr>
          <p:cNvPr id="98" name="Google Shape;98;p13"/>
          <p:cNvGraphicFramePr/>
          <p:nvPr>
            <p:extLst>
              <p:ext uri="{D42A27DB-BD31-4B8C-83A1-F6EECF244321}">
                <p14:modId xmlns:p14="http://schemas.microsoft.com/office/powerpoint/2010/main" val="239437632"/>
              </p:ext>
            </p:extLst>
          </p:nvPr>
        </p:nvGraphicFramePr>
        <p:xfrm>
          <a:off x="2529840" y="1904392"/>
          <a:ext cx="7132300" cy="1010940"/>
        </p:xfrm>
        <a:graphic>
          <a:graphicData uri="http://schemas.openxmlformats.org/drawingml/2006/table">
            <a:tbl>
              <a:tblPr firstRow="1" bandRow="1">
                <a:noFill/>
                <a:tableStyleId>{A450498A-0349-4D2B-AFEC-F3D9DD1A1CA7}</a:tableStyleId>
              </a:tblPr>
              <a:tblGrid>
                <a:gridCol w="360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E4E7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 Name &amp; Roll no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E4E7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Guide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55A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248445100045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55A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Pandi Surekha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Mrs. P S V D GAYATRI </a:t>
                      </a:r>
                      <a:endParaRPr lang="en-US" sz="1800" u="none" strike="noStrike" cap="none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812758" y="242596"/>
            <a:ext cx="428324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Content</a:t>
            </a:r>
            <a:endParaRPr sz="36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166726" y="1701827"/>
            <a:ext cx="7357842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Definition/Statement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behind the Problem Selection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and Drawbacks</a:t>
            </a:r>
            <a:endParaRPr lang="en-US" dirty="0">
              <a:ea typeface="Times New Roman"/>
            </a:endParaRP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Proposed Solution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Requirements&amp;Non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Functional Requirements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Methodology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Proposed System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Diagrams</a:t>
            </a: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>
              <a:buClr>
                <a:schemeClr val="dk1"/>
              </a:buClr>
              <a:buSzPts val="2000"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FD43B4-E9B4-6577-6E41-F1F912D6E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BCAD10-17E9-0C5F-9AD8-9C1E404476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7210" y="365125"/>
            <a:ext cx="8878389" cy="1325563"/>
          </a:xfrm>
        </p:spPr>
        <p:txBody>
          <a:bodyPr/>
          <a:lstStyle/>
          <a:p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E66DD-8FDA-086C-B452-14D134CD502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96388" y="1593669"/>
            <a:ext cx="10019211" cy="458329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deepfake technology has made it difficult to verify the authenticity of digital videos.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Human Face Deepfake Detection System using deep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classification.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InceptionV3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spatial and texture-based facial features from video frames.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temporal patterns across frames to detect deepfake manipulations.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binary classification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(Real or Fake)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a confidence score.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black-box nature of deep learning,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techniques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methods and Grad-CAM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important frames and manipulated facial regions.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explainability module visually highlights manipulated facial regions, improving transparency and user trust.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48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636295" y="353961"/>
            <a:ext cx="649999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 / Statement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06490" y="1659018"/>
            <a:ext cx="563569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BB9CD6-44D5-189E-7568-CE13290A4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58" y="1301811"/>
            <a:ext cx="1015672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use of deepfake technology enables the creation of highly realistic fake images and videos that are difficult to detect by humans.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deepfake detection systems mainly focus on accuracy but operate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black-box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providing no explanation for their decisions.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reduces user trust and makes it hard to verify or justify detection results in sensitive applications.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digital media is time-consuming, error-prone, and impractical for large-scale platforms.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fail to clearly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or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media are manipulated.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accurate, and explainable deepfake detection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not only detects fake content but also explains the reasoning behind its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1683659" y="337858"/>
            <a:ext cx="10421257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2138838" y="265807"/>
            <a:ext cx="175617" cy="21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990194" y="2971941"/>
            <a:ext cx="2914650" cy="27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47252" y="1769806"/>
            <a:ext cx="7948879" cy="2888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images and videos using advanced deep learning models.</a:t>
            </a:r>
            <a:endParaRPr dirty="0"/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state-of-the-art architectures like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InceptionV3</a:t>
            </a:r>
            <a:r>
              <a:rPr lang="en-IN" sz="1800" b="1" dirty="0"/>
              <a:t>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Explainable AI (XAI) methods such as Grad-CAM and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methods</a:t>
            </a:r>
            <a:r>
              <a:rPr lang="en-IN" sz="1800" dirty="0"/>
              <a:t>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visual explanations.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and evaluate models using benchmark datasets (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FaceForensics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++, DFDC, Celeb-DF).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user-friendly web interface for uploading media and viewing results.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prediction, confidence score, and explanation heatmap.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the model for fast, real-time inference.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a deployable prototype useful for media verification and cybersecurity.</a:t>
            </a:r>
            <a:endParaRPr dirty="0"/>
          </a:p>
        </p:txBody>
      </p:sp>
      <p:sp>
        <p:nvSpPr>
          <p:cNvPr id="130" name="Google Shape;130;p17"/>
          <p:cNvSpPr/>
          <p:nvPr/>
        </p:nvSpPr>
        <p:spPr>
          <a:xfrm>
            <a:off x="2138838" y="1924229"/>
            <a:ext cx="175617" cy="21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16671" y="2365912"/>
            <a:ext cx="2473523" cy="27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399477" y="3446835"/>
            <a:ext cx="7914323" cy="5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138838" y="3582650"/>
            <a:ext cx="175617" cy="21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935189" y="4992064"/>
            <a:ext cx="175617" cy="21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16670" y="4374963"/>
            <a:ext cx="2584966" cy="27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7" descr="Random samples of fake and real faces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163" y="2481943"/>
            <a:ext cx="2881166" cy="1957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371600" y="315505"/>
            <a:ext cx="9849952" cy="70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behind the problem selection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47870" y="1623527"/>
            <a:ext cx="715658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Deepfake technology has become a major threat in today’s digital world, where anyone can create realistic fake videos or images using AI. These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Deepfakes can spread misinformation, damage reputations, influence politics, and be used for cybercrimes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Most existing detection systems work like “black boxes,” giving results without explaining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something is fake. This reduces trust and makes verification difficult.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solve this, we chose this project to build a system that not only detects Deepfakes but also explains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made the decision, making the results more transparent and trustworthy. With the rise of social media manipulation and AI-generated content, there is a strong need for an explainable, accurate Deepfake detection system that common people, investigators, and organizations can rely on.</a:t>
            </a:r>
            <a:endParaRPr dirty="0"/>
          </a:p>
        </p:txBody>
      </p:sp>
      <p:pic>
        <p:nvPicPr>
          <p:cNvPr id="144" name="Google Shape;144;p18" descr="Explainable deepfake detection across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9906" y="2674096"/>
            <a:ext cx="3552825" cy="156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506638" y="328225"/>
            <a:ext cx="8600855" cy="93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and Draw backs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177283" y="1465408"/>
            <a:ext cx="7828382" cy="2277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Existing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CNN-based models (VGG,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some advanced models (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XceptionNet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for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detection.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pixel inconsistencies, facial artifacts, and GAN-generated patterns.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forensic methods check lighting, eye blinking, or head movement.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platforms use internal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detectors.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177283" y="3705589"/>
            <a:ext cx="7053942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Drawbacks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Explainability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Models act as black boxes; no visual explanation of manipulated areas.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Generalization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Accuracy drops on unseen or new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techniques.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Fails on Real-World Videos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(low-quality, compressed, noisy).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User-Friendly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No simple interface for common users.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or Non-Real-Time Detection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requiring high computing power.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Deployment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Hard to integrate into real applications.</a:t>
            </a:r>
            <a:endParaRPr dirty="0"/>
          </a:p>
        </p:txBody>
      </p:sp>
      <p:pic>
        <p:nvPicPr>
          <p:cNvPr id="153" name="Google Shape;153;p19" descr="Deepfake Detection. Introduction to Deepfake Detection | by Nilushi  Chandrasekara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5321" y="2332045"/>
            <a:ext cx="4383966" cy="276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1620253" y="404721"/>
            <a:ext cx="7490720" cy="54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555"/>
              </a:lnSpc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Proposed Solution</a:t>
            </a:r>
          </a:p>
        </p:txBody>
      </p:sp>
      <p:sp>
        <p:nvSpPr>
          <p:cNvPr id="160" name="Google Shape;160;p20"/>
          <p:cNvSpPr/>
          <p:nvPr/>
        </p:nvSpPr>
        <p:spPr>
          <a:xfrm flipH="1">
            <a:off x="627075" y="2037448"/>
            <a:ext cx="8524800" cy="3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348343" y="1307689"/>
            <a:ext cx="7289074" cy="555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uploads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or video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a web interface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>
              <a:lnSpc>
                <a:spcPct val="150000"/>
              </a:lnSpc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media is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preprocessed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(frame extraction, resizing, normalization)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detecting faces using OpenCV.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1150" algn="just">
              <a:lnSpc>
                <a:spcPct val="150000"/>
              </a:lnSpc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(Inceptionv3, Sequence model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extract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2048-dimensional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facial features</a:t>
            </a:r>
          </a:p>
          <a:p>
            <a:pPr marL="457200" lvl="0" indent="-311150" algn="just">
              <a:lnSpc>
                <a:spcPct val="150000"/>
              </a:lnSpc>
              <a:buClr>
                <a:schemeClr val="dk1"/>
              </a:buClr>
              <a:buSzPts val="1300"/>
              <a:buChar char="✔"/>
            </a:pPr>
            <a:r>
              <a:rPr lang="en-US" sz="1200" dirty="0"/>
              <a:t>These features are given to a </a:t>
            </a:r>
            <a:r>
              <a:rPr lang="en-US" sz="1200" b="1" dirty="0"/>
              <a:t>sequence model</a:t>
            </a:r>
            <a:r>
              <a:rPr lang="en-US" sz="1200" dirty="0"/>
              <a:t> to analyze temporal inconsistencies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>
              <a:lnSpc>
                <a:spcPct val="150000"/>
              </a:lnSpc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are trained on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FaceForensics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++, Celeb-DF,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DFDC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classifies media as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or Fake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confidence score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✔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(Grad-CAM)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manipulated facial regions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displayed with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prediction, confidence, and heatmap explanation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✔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for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detection and deployment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using advanced deep learning models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Decisions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XAI instead of black-box predictions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User Trust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visual explanations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Detection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against modern and unseen Deepfake techniques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Performance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suitable for practical applications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Interface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non-technical users.</a:t>
            </a:r>
            <a:endParaRPr sz="1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565DF9C-591A-1B5F-7288-1A4B15D9E5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00" cy="432000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1748589" y="391877"/>
            <a:ext cx="7332888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1"/>
          <p:cNvSpPr/>
          <p:nvPr/>
        </p:nvSpPr>
        <p:spPr>
          <a:xfrm flipH="1">
            <a:off x="627075" y="2037448"/>
            <a:ext cx="8524800" cy="3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77275" y="1455575"/>
            <a:ext cx="9637200" cy="530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Core i5 / AMD Ryzen 5 or higher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GB minimum (16 GB recommended)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 GB SSD or higher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Graphics: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GPU (Dedicated GPU optional)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1366 × 768 resolution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Devices: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 and Mouse</a:t>
            </a: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/ Linux / macOS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3.x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Environment: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Notebook / VS Code / PyCharm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Sources: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ADS-B / Radar flight datasets (CSV format)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 Tools: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PlantUML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Mermaid JS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Tool: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PowerPoint / Google Slides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F25E1-3491-E4A0-6844-AF7781F46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4" y="2834147"/>
            <a:ext cx="4844231" cy="24221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00" cy="432000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1716505" y="422786"/>
            <a:ext cx="9443669" cy="54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2"/>
          <p:cNvSpPr/>
          <p:nvPr/>
        </p:nvSpPr>
        <p:spPr>
          <a:xfrm flipH="1">
            <a:off x="627075" y="2037448"/>
            <a:ext cx="8524800" cy="3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246101" y="1526784"/>
            <a:ext cx="9637200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allow users to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videos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deepfake analysis.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 input media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(frame extraction, resizing, normalization).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deepfakes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trained deep learning models.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media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n-US" sz="1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1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generate a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score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each prediction.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>
              <a:lnSpc>
                <a:spcPct val="150000"/>
              </a:lnSpc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apply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techniques (Grad-CAM,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methods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provide explanations.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manipulated facial regions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output.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display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visually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heatmaps and labels.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support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inference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quick analysis.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allow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administrators to update or retrain models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needed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F6302-F78D-01C7-D88C-81D4909A0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D8E95-B1B4-75EB-0F14-ADCE034443E1}"/>
              </a:ext>
            </a:extLst>
          </p:cNvPr>
          <p:cNvSpPr txBox="1"/>
          <p:nvPr/>
        </p:nvSpPr>
        <p:spPr>
          <a:xfrm>
            <a:off x="806246" y="1573161"/>
            <a:ext cx="9864212" cy="403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Accuracy: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system should achieve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high detection accuracy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on benchmark datasets.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Performance: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system should provide results with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low latency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suitable for real-time use.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Scalability: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system should handle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multiple users simultaneously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without performance degradation.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Usability: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interface should be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simple and intuitive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for non-technical users.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Explainability: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system should provide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clear and interpretable explanations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for each decision.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Reliability: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system should produce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consistent results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for repeated inputs.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Security: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Uploaded media should be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securely processed and not stored without permission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64373-6952-0AF7-ADEF-27B62C1B660B}"/>
              </a:ext>
            </a:extLst>
          </p:cNvPr>
          <p:cNvSpPr txBox="1"/>
          <p:nvPr/>
        </p:nvSpPr>
        <p:spPr>
          <a:xfrm>
            <a:off x="1748588" y="344129"/>
            <a:ext cx="76313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Functional 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9621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00" cy="432000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1604866" y="391885"/>
            <a:ext cx="6223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Methodology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85669-1F63-86B3-A384-CD9E45DC17B0}"/>
              </a:ext>
            </a:extLst>
          </p:cNvPr>
          <p:cNvSpPr txBox="1"/>
          <p:nvPr/>
        </p:nvSpPr>
        <p:spPr>
          <a:xfrm>
            <a:off x="1308531" y="2074333"/>
            <a:ext cx="10129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 descr="PlantUML diagram">
            <a:extLst>
              <a:ext uri="{FF2B5EF4-FFF2-40B4-BE49-F238E27FC236}">
                <a16:creationId xmlns:a16="http://schemas.microsoft.com/office/drawing/2014/main" id="{22FA686C-9A54-6039-EFCB-73F7D168D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34" y="2335943"/>
            <a:ext cx="9977386" cy="246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00" cy="432000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1258529" y="477305"/>
            <a:ext cx="6520676" cy="55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Proposed System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942234F0-FB2A-CD1F-3FD2-9B6F8898B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10" y="1374990"/>
            <a:ext cx="3817620" cy="500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14317-C710-8AC0-9A30-06C85071C1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F21544-CAF2-8E5D-F861-107CD18C45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63336" y="365125"/>
            <a:ext cx="8852263" cy="88890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4E664-9111-9AAD-680B-6EB9C4B1903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4107" y="1254034"/>
            <a:ext cx="10515600" cy="4600712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 Case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represents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different users interact with  Deepfake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 descr="PlantUML diagram">
            <a:extLst>
              <a:ext uri="{FF2B5EF4-FFF2-40B4-BE49-F238E27FC236}">
                <a16:creationId xmlns:a16="http://schemas.microsoft.com/office/drawing/2014/main" id="{9307119E-D0B3-141B-BE91-0042E1E7E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93" y="2340614"/>
            <a:ext cx="9442530" cy="4003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936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75E1FD-FBCF-3E55-3377-939567D1A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9B965E-B4B8-2C05-5350-170F4A5D92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6296" y="365126"/>
            <a:ext cx="8879304" cy="74178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E4FD3-84FC-866F-AF25-B62F2882F7F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567543"/>
            <a:ext cx="10515600" cy="4609420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structure of deepfake detection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b="1" dirty="0"/>
          </a:p>
        </p:txBody>
      </p:sp>
      <p:pic>
        <p:nvPicPr>
          <p:cNvPr id="5" name="Picture 4" descr="PlantUML diagram">
            <a:extLst>
              <a:ext uri="{FF2B5EF4-FFF2-40B4-BE49-F238E27FC236}">
                <a16:creationId xmlns:a16="http://schemas.microsoft.com/office/drawing/2014/main" id="{BBE713AC-D1E7-8C19-BCF5-ED10DDF11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62" y="2849607"/>
            <a:ext cx="9074287" cy="32088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907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012408-0ACC-6CE7-C072-27D314C50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9DF6CA-AB4E-1AB8-6AEE-16F9A550E2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80754" y="365126"/>
            <a:ext cx="8834846" cy="83665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26993-2FB9-3DD8-8B32-63746117B3D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187832"/>
            <a:ext cx="10515600" cy="4740049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shows who interacts with whom, In what order (time flow top → bottom)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7" name="Picture 6" descr="PlantUML diagram">
            <a:extLst>
              <a:ext uri="{FF2B5EF4-FFF2-40B4-BE49-F238E27FC236}">
                <a16:creationId xmlns:a16="http://schemas.microsoft.com/office/drawing/2014/main" id="{A718F61C-661D-B4C8-A119-7DA5E6E2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955" y="2224516"/>
            <a:ext cx="9265918" cy="4434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9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2AEEA-D3BA-D126-0C6E-F02B2C22E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D34756-1381-3F75-23D1-CB515C6DEED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9794" y="365125"/>
            <a:ext cx="8895806" cy="94986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31D65-5770-BE94-8374-7032B8FC607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29936" y="1428206"/>
            <a:ext cx="9985664" cy="4748757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  <a:p>
            <a:pPr marL="508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shows: </a:t>
            </a:r>
          </a:p>
          <a:p>
            <a:pPr marL="508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Process flow (start → end) </a:t>
            </a:r>
          </a:p>
          <a:p>
            <a:pPr marL="508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Decision making </a:t>
            </a:r>
          </a:p>
          <a:p>
            <a:pPr marL="508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Sequence of operations</a:t>
            </a: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 descr="PlantUML diagram">
            <a:extLst>
              <a:ext uri="{FF2B5EF4-FFF2-40B4-BE49-F238E27FC236}">
                <a16:creationId xmlns:a16="http://schemas.microsoft.com/office/drawing/2014/main" id="{72FA37EF-490A-2865-6CD3-1922D3E1F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136" y="840059"/>
            <a:ext cx="2046282" cy="5699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5339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BD010A-6739-63C1-9CD5-5A2A1F842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D95131-ABE5-21FE-257F-4B5DC61BD5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6250" y="365126"/>
            <a:ext cx="8939349" cy="92374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2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DFF83-10D4-E528-B0E8-435CBB184A6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210591"/>
            <a:ext cx="10515600" cy="4644254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and is stored in  system.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E0709-ED6C-2A63-3BBF-E40B7ED1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3518705" y="1288870"/>
            <a:ext cx="6551270" cy="5049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9483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7B19FA-3AF9-175F-09FF-A73AD17D20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34313-3C49-68FC-5172-C6F67CE799B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4023" y="1253331"/>
            <a:ext cx="5678488" cy="4635500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9D88C-734C-33C5-2914-F55D472EFEC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936377" y="1253331"/>
            <a:ext cx="5181600" cy="4351337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221C2-C559-EDB5-3E6B-097DFCF573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02377" y="1579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200" dirty="0"/>
          </a:p>
        </p:txBody>
      </p:sp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0C9453D4-E821-E9EC-D8B1-FA929CF70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70" y="2541882"/>
            <a:ext cx="6040699" cy="312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PlantUML diagram">
            <a:extLst>
              <a:ext uri="{FF2B5EF4-FFF2-40B4-BE49-F238E27FC236}">
                <a16:creationId xmlns:a16="http://schemas.microsoft.com/office/drawing/2014/main" id="{3823174E-BC3D-ED72-DEE8-7380A6F7C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05" y="1943926"/>
            <a:ext cx="2687534" cy="4558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39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CA8E3F-FAFA-F9AD-3489-3C30F69746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834D1D-809C-59B9-BE23-25149C3750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7632" y="-137159"/>
            <a:ext cx="8887968" cy="182784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Code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428F3-9F0A-8020-B8EE-5DDDC04B3D6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13232" y="15787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is implemented using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Python, TensorFlow, OpenCV, and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input video is processed using OpenCV to extract frames. </a:t>
            </a:r>
          </a:p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 detection is applied to focus on facial regions. </a:t>
            </a:r>
          </a:p>
          <a:p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InceptionV3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used to extract 2048-dimensional feature vectors from each frame. </a:t>
            </a:r>
          </a:p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sequence model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analyzes temporal patterns across frames. </a:t>
            </a:r>
          </a:p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predicts whether the video is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or Fake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Explainability is achieved using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Gradient-based methods and Grad-CAM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324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85CD21-A77B-9F46-FB57-1819E5E508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A951B5-DBF2-6403-E9DB-DDDA85E241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3928" y="365125"/>
            <a:ext cx="8881671" cy="71416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24147-FBE8-67E0-FA75-9968F38783E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99533" y="1253331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Video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80682-85C6-25CF-B968-2A3DA938E16C}"/>
              </a:ext>
            </a:extLst>
          </p:cNvPr>
          <p:cNvSpPr txBox="1"/>
          <p:nvPr/>
        </p:nvSpPr>
        <p:spPr>
          <a:xfrm>
            <a:off x="1376475" y="1747691"/>
            <a:ext cx="1004020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frames = </a:t>
            </a:r>
            <a:r>
              <a:rPr lang="en-I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load_video</a:t>
            </a:r>
            <a: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video_file</a:t>
            </a:r>
            <a: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#Face Detection using OpenCV</a:t>
            </a:r>
          </a:p>
          <a:p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=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crop_face_center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(frame)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#Frame Selection from Video</a:t>
            </a:r>
          </a:p>
          <a:p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skip_frames_window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max(int(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total_frames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SEQ_LENGTH), 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loads the video and extracts frames for 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crops the face region, because deepfake manipulation mainly occurs on faces.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we select evenly spaced frames from the video instead of processing all frames, which improves efficiency.</a:t>
            </a: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08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FD4B5-1DA7-645D-6D2B-E3A4015C47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20F2C3-243E-D7B0-3074-18ABE65241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223944"/>
            <a:ext cx="10515600" cy="100647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83487-AB04-6D93-6C5D-EF11574758C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26572" y="138475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</a:t>
            </a:r>
          </a:p>
          <a:p>
            <a:pPr marL="571500" indent="-4572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frame_features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frame_mask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prepare_single_video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(frames)</a:t>
            </a:r>
          </a:p>
          <a:p>
            <a:pPr marL="1028700" lvl="1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InceptionV3 extracts 2048 features from each frame, which represent facial patterns.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Creation</a:t>
            </a:r>
          </a:p>
          <a:p>
            <a:pPr marL="571500" indent="-4572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frame_features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np.zeros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((1, SEQ_LENGTH, 2048))</a:t>
            </a:r>
          </a:p>
          <a:p>
            <a:pPr marL="1028700" lvl="1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structure to store extracted features for all frames.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Importance Calculation</a:t>
            </a:r>
          </a:p>
          <a:p>
            <a:pPr marL="5715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=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tf.norm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(grads[0], axis=-1)</a:t>
            </a:r>
          </a:p>
          <a:p>
            <a:pPr marL="1028700" lvl="1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importance of each frame in the final decision.</a:t>
            </a:r>
          </a:p>
          <a:p>
            <a:pPr marL="1028700" lvl="1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fake and real scores, and we focus on the fake probability; gradients are computed to measure how much each feature affects this prediction, since each frame has 2048 feature values, we combine them into a single importance value per frame using the norm (magnitude) of gradients, then normalize the values between 0 and 1 for easy comparison, where frames with higher gradients have more influence on the prediction and are considered more important, while frames with lower gradients are less important.</a:t>
            </a:r>
            <a:endParaRPr lang="en-US" sz="2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298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4D2E03-3EE4-E14B-8A73-10409A59D2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987799-301C-3654-0CA0-379318285A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0E2A8-21A7-1A3F-09C0-777507D9A3D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8056" y="1462088"/>
            <a:ext cx="10515600" cy="5194744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=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sequence_model.predict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frame_features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frame_mask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verbose=0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)[0]</a:t>
            </a:r>
          </a:p>
          <a:p>
            <a:pPr marL="114300" indent="0">
              <a:buNone/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fake_probability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probabilities[0] * 100</a:t>
            </a:r>
          </a:p>
          <a:p>
            <a:pPr marL="5715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model analyzes the features and predicts whether the video is fake or real.</a:t>
            </a:r>
          </a:p>
          <a:p>
            <a:pPr marL="5715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[0] is used to extract the prediction for the input video.</a:t>
            </a:r>
          </a:p>
          <a:p>
            <a:pPr marL="5715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probabilities[0] represents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class probability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974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2762FC-58C6-222E-C07B-6C260C1A1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53D998-77B5-263E-C2F5-AC61C96E64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5481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0B058-9A37-B778-B19D-DD777064EDD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76072" y="1395857"/>
            <a:ext cx="5760720" cy="4351338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Explainability 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importance,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shap_values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gradcam_results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explain_prediction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frames,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frame_features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frame_mask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#Frame Importance Calculation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tf.norm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(grads[0], axis=-1).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114300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importance.max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&gt; 0: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importance = importance /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importance.max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11430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#Grad-CAM Heatmap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tf.reduce_sum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pooled_grads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conv_out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axis=-1)</a:t>
            </a:r>
          </a:p>
          <a:p>
            <a:pPr marL="114300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tf.nn.relu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(heatmap)</a:t>
            </a:r>
          </a:p>
          <a:p>
            <a:pPr marL="114300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/= </a:t>
            </a:r>
            <a:r>
              <a:rPr lang="en-IN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tf.reduce_max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(heatmap) + 1e-8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08D91-BBA2-ABB8-2684-1F245A8F8CE1}"/>
              </a:ext>
            </a:extLst>
          </p:cNvPr>
          <p:cNvSpPr txBox="1"/>
          <p:nvPr/>
        </p:nvSpPr>
        <p:spPr>
          <a:xfrm>
            <a:off x="5859262" y="1480376"/>
            <a:ext cx="56323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explain_prediction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is used to generate explainability results.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importance, SHAP-like values, and Grad-CAM visualizations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Frame Importance Calculation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 are computed to measure how features influence the prediction.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frame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2048 feature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tf.norm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is used to combine these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importance score per 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frame has more impact on prediction.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between 0 and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comparison. 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Grad-CAM Heatmap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maps are weighted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importance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pooled_grads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reduce_sum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combines all channels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heatmap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negative values and keeps important regions.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741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720C0-6126-9E4D-BCC6-981BD3D3F4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1E42E4-9179-8968-5353-5529D7C6DC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3870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IN" sz="3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BCF9F2-EA32-6AA7-1F0C-632D87643D8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18011" y="125333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2299E6-4062-C0DE-9DB8-9067D7C98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31" y="1917585"/>
            <a:ext cx="5378851" cy="434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32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C3FAFA-A49F-A2FC-D2EC-AC60E81A0E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539D95-3C3D-6236-BAF8-7D184B098B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67543" y="112577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DF796-C600-C489-4DF7-3A434A38E1D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91885" y="125333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</a:t>
            </a: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6B889-22B2-958D-778E-F942FF71C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961" y="1898936"/>
            <a:ext cx="66593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02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7188E-05ED-3CE9-422D-582E46051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942130-919A-CB02-514B-146EBB18EE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08908" y="504463"/>
            <a:ext cx="8974183" cy="68861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C3F65-34A9-EE0D-D6E3-ED54CAEFE06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26720" y="1390196"/>
            <a:ext cx="5856514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A984A-C4FF-F3FE-EDF1-BAB5D0E6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57" y="2149838"/>
            <a:ext cx="6211211" cy="33179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212BB3-87FB-1DE8-F209-8D807DCBECAB}"/>
              </a:ext>
            </a:extLst>
          </p:cNvPr>
          <p:cNvSpPr txBox="1"/>
          <p:nvPr/>
        </p:nvSpPr>
        <p:spPr>
          <a:xfrm>
            <a:off x="6918960" y="2531548"/>
            <a:ext cx="48463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interface using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video file (MP4 format)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allows easy interaction for deepfake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uploaded, the video is processed for prediction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41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CF2268-2B29-DBE2-0277-17132127B9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CAA49-7F08-4E9B-107A-24FC01B37B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6192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Output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74302-6221-0C94-3FFC-0EF7AB1ED70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69966" y="1487487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C8C9C-9AFF-C742-8DF5-AA00F0C2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8" y="2231935"/>
            <a:ext cx="6237265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B38804-0972-0B8C-E2C9-7025653DA47F}"/>
              </a:ext>
            </a:extLst>
          </p:cNvPr>
          <p:cNvSpPr txBox="1"/>
          <p:nvPr/>
        </p:nvSpPr>
        <p:spPr>
          <a:xfrm>
            <a:off x="6788083" y="2908300"/>
            <a:ext cx="49813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whether the video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Fake.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(%)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values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of each 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→ support fake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→ support real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frames influence the 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importance indicates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frames are most influential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between 0 and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more important frame.</a:t>
            </a:r>
          </a:p>
        </p:txBody>
      </p:sp>
    </p:spTree>
    <p:extLst>
      <p:ext uri="{BB962C8B-B14F-4D97-AF65-F5344CB8AC3E}">
        <p14:creationId xmlns:p14="http://schemas.microsoft.com/office/powerpoint/2010/main" val="2360407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4102D7-39ED-D7AD-A912-CA8D7F05E8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1D53C0-9B27-C0EA-57D4-AEA6A48A1B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0980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Output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C34E5-02D1-CDF3-F600-E1B2187C6A9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61968" y="1408906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1298B-F20E-2C9B-E9C2-025B1743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30" y="2031033"/>
            <a:ext cx="4561570" cy="424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F1A2E8-A809-BC1A-AD58-483CFB435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5" y="2147826"/>
            <a:ext cx="5302623" cy="4008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5EE62-8CFA-5926-8502-7B82B20E54BE}"/>
              </a:ext>
            </a:extLst>
          </p:cNvPr>
          <p:cNvSpPr txBox="1"/>
          <p:nvPr/>
        </p:nvSpPr>
        <p:spPr>
          <a:xfrm>
            <a:off x="7791230" y="3459435"/>
            <a:ext cx="3795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generates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 highlighting important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Red/Yellow regions indicate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importance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manipulated facial areas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video.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transparency and trust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54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1539551" y="317241"/>
            <a:ext cx="34896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399640" y="1696322"/>
            <a:ext cx="11727803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Intelligent Human Face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Detection System effectively identifies manipulated images and videos using advanced deep learning models such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InceptionV3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achieving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detection accuracy (90%–97%)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benchmark datasets like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FaceForensics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 and DFDC.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integrating Explainable AI techniques such as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Grad-CAM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methods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system not only predicts whether media is real or fake but also highlights the manipulated facial regions, making the model’s decision transparent and trustworthy.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demonstrates that combining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detection with XAI significantly improves interpretability, boosts user confidence, and enhances real-time media verification. The system provides a reliable and practical solution to combat misinformation, identity misuse, and digital fraud in today’s AI-driven digital world.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5" descr="Explainable Artificial Intelligenc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3541" y="4750448"/>
            <a:ext cx="4242124" cy="146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1763486" y="2629525"/>
            <a:ext cx="8665028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11586575" y="6425853"/>
            <a:ext cx="605425" cy="432148"/>
          </a:xfrm>
          <a:prstGeom prst="rect">
            <a:avLst/>
          </a:prstGeom>
          <a:solidFill>
            <a:srgbClr val="BF9000"/>
          </a:solidFill>
          <a:ln w="9525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</TotalTime>
  <Words>2327</Words>
  <Application>Microsoft Office PowerPoint</Application>
  <PresentationFormat>Widescreen</PresentationFormat>
  <Paragraphs>279</Paragraphs>
  <Slides>31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Abstract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UML Diagrams</vt:lpstr>
      <vt:lpstr>UML Diagrams</vt:lpstr>
      <vt:lpstr>UML Diagrams</vt:lpstr>
      <vt:lpstr>UML Diagrams</vt:lpstr>
      <vt:lpstr>UML Diagrams</vt:lpstr>
      <vt:lpstr>UML Diagrams</vt:lpstr>
      <vt:lpstr>Implementation / Code Overview</vt:lpstr>
      <vt:lpstr>Code Snippets</vt:lpstr>
      <vt:lpstr>Code Snippets</vt:lpstr>
      <vt:lpstr>Code Snippets</vt:lpstr>
      <vt:lpstr>Code Snippets</vt:lpstr>
      <vt:lpstr>Code Snippets</vt:lpstr>
      <vt:lpstr>Code Snippets</vt:lpstr>
      <vt:lpstr>Result and Output</vt:lpstr>
      <vt:lpstr>Result and Output</vt:lpstr>
      <vt:lpstr>Result and Output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surekha</dc:creator>
  <cp:lastModifiedBy>Pandi Surekha</cp:lastModifiedBy>
  <cp:revision>32</cp:revision>
  <dcterms:modified xsi:type="dcterms:W3CDTF">2026-04-23T06:53:14Z</dcterms:modified>
</cp:coreProperties>
</file>